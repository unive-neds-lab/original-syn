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Source Sans 3 Medium"/>
      <p:regular r:id="rId33"/>
      <p:bold r:id="rId34"/>
      <p:italic r:id="rId35"/>
      <p:boldItalic r:id="rId36"/>
    </p:embeddedFont>
    <p:embeddedFont>
      <p:font typeface="Source Sans 3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ans3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SourceSans3Medium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SourceSans3Medium-italic.fntdata"/><Relationship Id="rId12" Type="http://schemas.openxmlformats.org/officeDocument/2006/relationships/slide" Target="slides/slide7.xml"/><Relationship Id="rId34" Type="http://schemas.openxmlformats.org/officeDocument/2006/relationships/font" Target="fonts/SourceSans3Medium-bold.fntdata"/><Relationship Id="rId15" Type="http://schemas.openxmlformats.org/officeDocument/2006/relationships/slide" Target="slides/slide10.xml"/><Relationship Id="rId37" Type="http://schemas.openxmlformats.org/officeDocument/2006/relationships/font" Target="fonts/SourceSans3-regular.fntdata"/><Relationship Id="rId14" Type="http://schemas.openxmlformats.org/officeDocument/2006/relationships/slide" Target="slides/slide9.xml"/><Relationship Id="rId36" Type="http://schemas.openxmlformats.org/officeDocument/2006/relationships/font" Target="fonts/SourceSans3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SourceSans3-italic.fntdata"/><Relationship Id="rId16" Type="http://schemas.openxmlformats.org/officeDocument/2006/relationships/slide" Target="slides/slide11.xml"/><Relationship Id="rId38" Type="http://schemas.openxmlformats.org/officeDocument/2006/relationships/font" Target="fonts/SourceSans3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74be31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74be31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74be316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74be316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c39a2a8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c39a2a8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39a2a85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c39a2a8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ed9d075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ed9d075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ed9d075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ed9d075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ed9d075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ed9d075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c25833a2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c25833a2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74be316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b74be316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be527f01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be527f01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ed9d075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ded9d075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be527f01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be527f01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b97d5bf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b97d5b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be527f01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be527f01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b97d5bf3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b97d5bf3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b74be316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b74be316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b97d5bf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b97d5bf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b74be316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b74be316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b97d5bf3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b97d5bf3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b97d5b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b97d5b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c39a2a85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c39a2a85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b74be316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b74be316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b97d5bf3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b97d5bf3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c25833a2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c25833a2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b74be316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b74be316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d8395959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d8395959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network-3849206_1280Pixabay.jpg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525" y="216000"/>
            <a:ext cx="9124950" cy="34305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55" name="Google Shape;55;p13"/>
          <p:cNvSpPr txBox="1"/>
          <p:nvPr/>
        </p:nvSpPr>
        <p:spPr>
          <a:xfrm>
            <a:off x="372450" y="2058575"/>
            <a:ext cx="82143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Another SYN in the Wall:</a:t>
            </a:r>
            <a:endParaRPr sz="2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Mitigating TCP Side-Channel Attacks via Randomized SYN-Queue Eviction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1445150" y="549425"/>
            <a:ext cx="6253700" cy="906925"/>
            <a:chOff x="1445150" y="498901"/>
            <a:chExt cx="6253700" cy="906925"/>
          </a:xfrm>
        </p:grpSpPr>
        <p:pic>
          <p:nvPicPr>
            <p:cNvPr id="57" name="Google Shape;57;p13" title="unive-removebg-preview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45150" y="498901"/>
              <a:ext cx="916100" cy="90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2361250" y="599125"/>
              <a:ext cx="5337600" cy="7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5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University Ca’ Foscari of Venice</a:t>
              </a:r>
              <a:endParaRPr sz="1500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Department of Environmental Sciences, Computer Science and Statistics</a:t>
              </a:r>
              <a:endParaRPr sz="1200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Master’s degree in Computer Science and Information Technology - Cybersecurity</a:t>
              </a:r>
              <a:endParaRPr sz="1200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372450" y="3681675"/>
            <a:ext cx="8214300" cy="912400"/>
            <a:chOff x="414550" y="3093775"/>
            <a:chExt cx="8214300" cy="912400"/>
          </a:xfrm>
        </p:grpSpPr>
        <p:cxnSp>
          <p:nvCxnSpPr>
            <p:cNvPr id="60" name="Google Shape;60;p13"/>
            <p:cNvCxnSpPr/>
            <p:nvPr/>
          </p:nvCxnSpPr>
          <p:spPr>
            <a:xfrm>
              <a:off x="414550" y="3093775"/>
              <a:ext cx="821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" name="Google Shape;61;p13"/>
            <p:cNvSpPr txBox="1"/>
            <p:nvPr/>
          </p:nvSpPr>
          <p:spPr>
            <a:xfrm>
              <a:off x="1063094" y="3233300"/>
              <a:ext cx="1401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Advisor</a:t>
              </a:r>
              <a:endParaRPr sz="11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00">
                  <a:solidFill>
                    <a:schemeClr val="dk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Prof. Maccari Leonardo</a:t>
              </a:r>
              <a:endParaRPr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4015200" y="3179000"/>
              <a:ext cx="12294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Graduand</a:t>
              </a:r>
              <a:endParaRPr sz="11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00">
                  <a:solidFill>
                    <a:schemeClr val="dk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Finesso Davide</a:t>
              </a:r>
              <a:endParaRPr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00">
                  <a:solidFill>
                    <a:schemeClr val="dk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Student ID:  881825</a:t>
              </a:r>
              <a:endParaRPr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6795406" y="3255200"/>
              <a:ext cx="1285500" cy="4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AC003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Academic year</a:t>
              </a:r>
              <a:endParaRPr sz="11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00">
                  <a:solidFill>
                    <a:schemeClr val="dk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2024/25</a:t>
              </a:r>
              <a:endParaRPr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cxnSp>
          <p:nvCxnSpPr>
            <p:cNvPr id="64" name="Google Shape;64;p13"/>
            <p:cNvCxnSpPr/>
            <p:nvPr/>
          </p:nvCxnSpPr>
          <p:spPr>
            <a:xfrm>
              <a:off x="414550" y="4006175"/>
              <a:ext cx="821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" name="Google Shape;65;p13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attack - Presentazione problema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dettaglio kernel utilizzato  obiettivo</a:t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Introduction and Objective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377250" y="1153825"/>
            <a:ext cx="48186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Problem: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article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“Original syn: Finding machines hidden behind firewalls.” shows how state information of an hidden system can be easily retrieve.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Attack Overview: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the attack take advantages of the natural management of reachable system in order to recover state information of an unreachable target.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Thesis object: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Develop a kernel patch to make more difficult for an attacker to carry out a successful attack.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5">
            <a:alphaModFix/>
          </a:blip>
          <a:srcRect b="58556" l="11433" r="14228" t="8182"/>
          <a:stretch/>
        </p:blipFill>
        <p:spPr>
          <a:xfrm>
            <a:off x="6145178" y="1003888"/>
            <a:ext cx="2372501" cy="111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 rotWithShape="1">
          <a:blip r:embed="rId5">
            <a:alphaModFix/>
          </a:blip>
          <a:srcRect b="17828" l="11726" r="17337" t="47189"/>
          <a:stretch/>
        </p:blipFill>
        <p:spPr>
          <a:xfrm>
            <a:off x="6145175" y="2908601"/>
            <a:ext cx="2372501" cy="123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Introduction and Objective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Problem: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article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“Original syn: Finding machines hidden behind firewalls.” shows how state information of an hidden system can be easily retrieve.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Attack Overview: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the attack take advantages of the natural management of reachable system in order to recover state information of an unreachable target.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Thesis object: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380">
                <a:latin typeface="Source Sans 3"/>
                <a:ea typeface="Source Sans 3"/>
                <a:cs typeface="Source Sans 3"/>
                <a:sym typeface="Source Sans 3"/>
              </a:rPr>
              <a:t>develop a kernel patch to make more difficult for an attacker to carry out a successful attack.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Background, informazioni necessarie per comprendere l’attacco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Background | SYN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Function: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Initiates a TCP connection request.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Mechanism: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Sets the SYN flag in the TCP header and proposes an Initial Sequence Number (ISN).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Impact on Server: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Triggers the allocation of a "half-open" connection entry in the SYN-Queue.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Security Context: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Target of SYN-Flood attacks and Side-Channel analysis due to queue resource management.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Background | SYN-Queue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Function: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Stores incoming connection requests in the </a:t>
            </a:r>
            <a:r>
              <a:rPr lang="it" sz="1350">
                <a:solidFill>
                  <a:srgbClr val="1880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SYN-RECEIVED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state.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Mechanism: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Buffers TCP metadata between the initial </a:t>
            </a:r>
            <a:r>
              <a:rPr lang="it" sz="1350">
                <a:solidFill>
                  <a:srgbClr val="1880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and the final </a:t>
            </a:r>
            <a:r>
              <a:rPr lang="it" sz="1350">
                <a:solidFill>
                  <a:srgbClr val="1880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ACK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in the Three-Way handshake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Constraint: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It has a fixed capacity, called backlog size (defined in the “listen” function); once exhausted, the server cannot accept new connections (Denial of Service).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Eviction: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to prevent the easy saturation it has a mechanism that evict the oldest request faster to leave space for the newest.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Side-Channel Relevance: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Variations in queue processing time and packet handling behavior can be exploited to probe server resources remotely.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Kernel SYN-Queue management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7" name="Google Shape;157;p20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struct: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request_sock_queue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is where the SYN-Queue’s data queue resides.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paramenter: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kernel variable that describe how the SYN-Queue should be managed (ie.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net.core.somaxconn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).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Queue relation: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Accept-Queue is linked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SYN-Queue, the later size is limited to the same size of the Accept_Queue.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Saturation preventing: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Kernel implement some strategies to prevent the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queue saturation.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tcp_max_syn_backlog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1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Attacco - Dettaglio del paper e come viene portato a termine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Paper </a:t>
            </a: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Attack 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2" name="Google Shape;182;p22"/>
          <p:cNvSpPr txBox="1"/>
          <p:nvPr>
            <p:ph type="title"/>
          </p:nvPr>
        </p:nvSpPr>
        <p:spPr>
          <a:xfrm>
            <a:off x="4811027" y="1546731"/>
            <a:ext cx="34560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Actors: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attacker, the zombie and the target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Goal: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the attacker take advantage of the natural eviction of the zombie SYN-Queue to retrieve information about the state of an hidden system.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Reason: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this is possible thanks to the fixed threshold of eviction defined by the kernel.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3" name="Google Shape;183;p22"/>
          <p:cNvSpPr txBox="1"/>
          <p:nvPr>
            <p:ph type="title"/>
          </p:nvPr>
        </p:nvSpPr>
        <p:spPr>
          <a:xfrm>
            <a:off x="876973" y="1546731"/>
            <a:ext cx="34560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Actors: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attacker and the zombie.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Goal: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the attacker trigger the eviction process of the zombie SYN-Queue in order to become aware of its real dimension. This is mandatory for the second part of the attack.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Reason: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this is possible thanks to the fixed threshold of eviction defined in the kernel logic.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4" name="Google Shape;184;p22"/>
          <p:cNvSpPr txBox="1"/>
          <p:nvPr>
            <p:ph type="title"/>
          </p:nvPr>
        </p:nvSpPr>
        <p:spPr>
          <a:xfrm>
            <a:off x="876973" y="1179200"/>
            <a:ext cx="3456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Attack part 1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5" name="Google Shape;185;p22"/>
          <p:cNvSpPr txBox="1"/>
          <p:nvPr>
            <p:ph type="title"/>
          </p:nvPr>
        </p:nvSpPr>
        <p:spPr>
          <a:xfrm>
            <a:off x="4811027" y="1179200"/>
            <a:ext cx="3456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Attack part 2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186" name="Google Shape;186;p22"/>
          <p:cNvCxnSpPr/>
          <p:nvPr/>
        </p:nvCxnSpPr>
        <p:spPr>
          <a:xfrm>
            <a:off x="4572000" y="1148625"/>
            <a:ext cx="0" cy="327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7" name="Google Shape;187;p22"/>
          <p:cNvGrpSpPr/>
          <p:nvPr/>
        </p:nvGrpSpPr>
        <p:grpSpPr>
          <a:xfrm>
            <a:off x="5462996" y="4150225"/>
            <a:ext cx="2556963" cy="612540"/>
            <a:chOff x="5529090" y="4282925"/>
            <a:chExt cx="2556963" cy="612540"/>
          </a:xfrm>
        </p:grpSpPr>
        <p:pic>
          <p:nvPicPr>
            <p:cNvPr id="188" name="Google Shape;188;p22"/>
            <p:cNvPicPr preferRelativeResize="0"/>
            <p:nvPr/>
          </p:nvPicPr>
          <p:blipFill rotWithShape="1">
            <a:blip r:embed="rId5">
              <a:alphaModFix/>
            </a:blip>
            <a:srcRect b="58556" l="11433" r="14228" t="8182"/>
            <a:stretch/>
          </p:blipFill>
          <p:spPr>
            <a:xfrm>
              <a:off x="5529090" y="4311182"/>
              <a:ext cx="1181184" cy="556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2"/>
            <p:cNvPicPr preferRelativeResize="0"/>
            <p:nvPr/>
          </p:nvPicPr>
          <p:blipFill rotWithShape="1">
            <a:blip r:embed="rId5">
              <a:alphaModFix/>
            </a:blip>
            <a:srcRect b="17828" l="11726" r="17337" t="47189"/>
            <a:stretch/>
          </p:blipFill>
          <p:spPr>
            <a:xfrm>
              <a:off x="6905253" y="4282925"/>
              <a:ext cx="1180800" cy="6125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22" title="first_part_arch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9626" y="4150227"/>
            <a:ext cx="1637975" cy="4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Paper Attack | First part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Goal: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the attacker trigger the eviction process of the zombie SYN-queue in order to become aware of its real dimension. This is mandatory for the second part of the attack.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Actors: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attacker and the zombie.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How: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assume a backlog size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create SYN packets equal to ¾ of the assumed size to send to the zombie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 After a certain period of time,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check whether they are present or whether they have been expelled. If the latter is the case, the assumed backlog size was correct; otherwise, increase the size.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Reason: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this is possible thanks to the fixed threshold of eviction defined by the kernel.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324" y="500324"/>
            <a:ext cx="2459975" cy="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4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14" name="Google Shape;214;p24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Paper Attack | First part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17" name="Google Shape;217;p24" title="first_part_arch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88" y="4199450"/>
            <a:ext cx="2458800" cy="72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title="part 1 diagr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2950" y="314300"/>
            <a:ext cx="3316600" cy="442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>
            <p:ph type="title"/>
          </p:nvPr>
        </p:nvSpPr>
        <p:spPr>
          <a:xfrm>
            <a:off x="377250" y="1153825"/>
            <a:ext cx="48186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ssume a backlog size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Create SYN packets equal to ¾ of the assumed size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Send it to the zombie.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After a certain period of time, check whether they are present or whether they have been expelled.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lphaLcPeriod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If they are expired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: the assumed backlog size was correct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Font typeface="Source Sans 3"/>
              <a:buAutoNum type="alphaLcPeriod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If they are all present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: increase the size and restart the process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5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29" name="Google Shape;229;p25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Paper Attack | Second part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2" name="Google Shape;232;p25"/>
          <p:cNvSpPr txBox="1"/>
          <p:nvPr>
            <p:ph type="title"/>
          </p:nvPr>
        </p:nvSpPr>
        <p:spPr>
          <a:xfrm>
            <a:off x="902100" y="1330650"/>
            <a:ext cx="73398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Goal: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the attacker take advantage of the natural eviction of the zombie syn queue to retrieve information about the state of an hidden system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Actors: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attacker, the zombie and the target.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How: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create SYN packets equal to ¾ of the backlog size obtained by the first part of the attack (½ spoofed and ½ legit). The attacker probes the legit one to retrieve the liveness information of the target.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Reason: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this is possible thanks to the fixed threshold of eviction defined by the kernel.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5">
            <a:alphaModFix/>
          </a:blip>
          <a:srcRect b="58556" l="11433" r="14228" t="8182"/>
          <a:stretch/>
        </p:blipFill>
        <p:spPr>
          <a:xfrm>
            <a:off x="4300100" y="433900"/>
            <a:ext cx="1905001" cy="89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 rotWithShape="1">
          <a:blip r:embed="rId5">
            <a:alphaModFix/>
          </a:blip>
          <a:srcRect b="17828" l="11726" r="17337" t="47189"/>
          <a:stretch/>
        </p:blipFill>
        <p:spPr>
          <a:xfrm>
            <a:off x="6476628" y="376100"/>
            <a:ext cx="1728271" cy="89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Paper Attack | Second part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47" name="Google Shape;247;p26" title="retrieve target inform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0369" y="389969"/>
            <a:ext cx="3315600" cy="43151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>
            <p:ph type="title"/>
          </p:nvPr>
        </p:nvSpPr>
        <p:spPr>
          <a:xfrm>
            <a:off x="377250" y="1153825"/>
            <a:ext cx="48186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reate SYN packets equal to ¾ of the backlog size obtained by the first part of the attack (½ spoofed and ½ canaries)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Shuffle the packets and s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end it to the zombie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rabicPeriod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After a certain period of time, t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he attacker probes the canaries to obtain the target state information: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Source Sans 3"/>
              <a:buAutoNum type="alphaLcPeriod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If some are expired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: the is not alive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Font typeface="Source Sans 3"/>
              <a:buAutoNum type="alphaLcPeriod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If all are present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: the target is alive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249" name="Google Shape;249;p26"/>
          <p:cNvGrpSpPr/>
          <p:nvPr/>
        </p:nvGrpSpPr>
        <p:grpSpPr>
          <a:xfrm>
            <a:off x="1083624" y="3850851"/>
            <a:ext cx="3933633" cy="942393"/>
            <a:chOff x="5529090" y="4282925"/>
            <a:chExt cx="2556963" cy="612540"/>
          </a:xfrm>
        </p:grpSpPr>
        <p:pic>
          <p:nvPicPr>
            <p:cNvPr id="250" name="Google Shape;250;p26"/>
            <p:cNvPicPr preferRelativeResize="0"/>
            <p:nvPr/>
          </p:nvPicPr>
          <p:blipFill rotWithShape="1">
            <a:blip r:embed="rId6">
              <a:alphaModFix/>
            </a:blip>
            <a:srcRect b="58556" l="11433" r="14228" t="8182"/>
            <a:stretch/>
          </p:blipFill>
          <p:spPr>
            <a:xfrm>
              <a:off x="5529090" y="4311182"/>
              <a:ext cx="1181184" cy="556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6"/>
            <p:cNvPicPr preferRelativeResize="0"/>
            <p:nvPr/>
          </p:nvPicPr>
          <p:blipFill rotWithShape="1">
            <a:blip r:embed="rId6">
              <a:alphaModFix/>
            </a:blip>
            <a:srcRect b="17828" l="11726" r="17337" t="47189"/>
            <a:stretch/>
          </p:blipFill>
          <p:spPr>
            <a:xfrm>
              <a:off x="6905253" y="4282925"/>
              <a:ext cx="1180800" cy="6125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7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62" name="Google Shape;26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dove viene introdotto questo problema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Soglia fissa e funzioni interessate del kernel</a:t>
            </a:r>
            <a:endParaRPr/>
          </a:p>
        </p:txBody>
      </p:sp>
      <p:sp>
        <p:nvSpPr>
          <p:cNvPr id="263" name="Google Shape;263;p27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/>
          <p:nvPr/>
        </p:nvSpPr>
        <p:spPr>
          <a:xfrm>
            <a:off x="4240875" y="1167675"/>
            <a:ext cx="4857000" cy="219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8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74" name="Google Shape;274;p28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Vulnerability</a:t>
            </a: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 analysis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7" name="Google Shape;277;p28"/>
          <p:cNvSpPr txBox="1"/>
          <p:nvPr>
            <p:ph type="title"/>
          </p:nvPr>
        </p:nvSpPr>
        <p:spPr>
          <a:xfrm>
            <a:off x="4216150" y="1148625"/>
            <a:ext cx="4927800" cy="20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Code 2.12: net/ipv4/inet_connection_sock.c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if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((qlen &lt;&lt; 1) &gt; </a:t>
            </a:r>
            <a:r>
              <a:rPr lang="it" sz="12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max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(8U, </a:t>
            </a:r>
            <a:r>
              <a:rPr lang="it" sz="12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READ_ONCE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(sk_listener-&gt;sk_max_ack_backlog))) {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0000F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2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young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2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200">
                <a:solidFill>
                  <a:srgbClr val="0050A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reqsk_queue_len_young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(queue) &lt;&lt; 1;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while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(max_syn_ack_retries &gt; 2) {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if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(qlen &lt; </a:t>
            </a:r>
            <a:r>
              <a:rPr lang="it" sz="12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young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)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break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0000F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max_syn_ack_retries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--;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0000F0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young</a:t>
            </a:r>
            <a:r>
              <a:rPr lang="it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&lt;&lt;= 1;</a:t>
            </a:r>
            <a:endParaRPr sz="12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Source Sans 3"/>
                <a:ea typeface="Source Sans 3"/>
                <a:cs typeface="Source Sans 3"/>
                <a:sym typeface="Source Sans 3"/>
              </a:rPr>
              <a:t>}</a:t>
            </a:r>
            <a:endParaRPr sz="12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78" name="Google Shape;278;p28" title="Screenshot from 2026-02-27 12-55-49.png"/>
          <p:cNvPicPr preferRelativeResize="0"/>
          <p:nvPr/>
        </p:nvPicPr>
        <p:blipFill rotWithShape="1">
          <a:blip r:embed="rId5">
            <a:alphaModFix/>
          </a:blip>
          <a:srcRect b="3633" l="0" r="0" t="0"/>
          <a:stretch/>
        </p:blipFill>
        <p:spPr>
          <a:xfrm>
            <a:off x="1083625" y="1148625"/>
            <a:ext cx="2485075" cy="30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/>
          <p:nvPr>
            <p:ph type="title"/>
          </p:nvPr>
        </p:nvSpPr>
        <p:spPr>
          <a:xfrm>
            <a:off x="4216150" y="3567263"/>
            <a:ext cx="37461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vulnerability is 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not a bug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but just a 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consequence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of the natural management of the queue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9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290" name="Google Shape;29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Soluzione proposta (teorica)</a:t>
            </a:r>
            <a:endParaRPr/>
          </a:p>
        </p:txBody>
      </p:sp>
      <p:sp>
        <p:nvSpPr>
          <p:cNvPr id="291" name="Google Shape;291;p29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0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01" name="Google Shape;301;p30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Vulnerability solution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522425" y="1302000"/>
            <a:ext cx="52944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Idea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moves from a static eviction threshold to a window randomization threshold approach.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Enforcement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refresh the threshold each time that a non-natural eviction happens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Implementation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custom variable added inside of the socket to manage the randomization threshold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modification of the normal workflow of the kernel eviction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05" name="Google Shape;305;p30"/>
          <p:cNvGrpSpPr/>
          <p:nvPr/>
        </p:nvGrpSpPr>
        <p:grpSpPr>
          <a:xfrm>
            <a:off x="1786925" y="3836425"/>
            <a:ext cx="3109250" cy="361500"/>
            <a:chOff x="3758875" y="3429500"/>
            <a:chExt cx="3109250" cy="361500"/>
          </a:xfrm>
        </p:grpSpPr>
        <p:sp>
          <p:nvSpPr>
            <p:cNvPr id="306" name="Google Shape;306;p30"/>
            <p:cNvSpPr/>
            <p:nvPr/>
          </p:nvSpPr>
          <p:spPr>
            <a:xfrm>
              <a:off x="3873500" y="3683000"/>
              <a:ext cx="2880000" cy="1080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descr="window&#10;" id="307" name="Google Shape;307;p30"/>
            <p:cNvSpPr/>
            <p:nvPr/>
          </p:nvSpPr>
          <p:spPr>
            <a:xfrm>
              <a:off x="4773500" y="3683000"/>
              <a:ext cx="1080000" cy="108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0"/>
            <p:cNvSpPr txBox="1"/>
            <p:nvPr/>
          </p:nvSpPr>
          <p:spPr>
            <a:xfrm>
              <a:off x="3758875" y="3429500"/>
              <a:ext cx="231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0</a:t>
              </a:r>
              <a:endParaRPr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09" name="Google Shape;309;p30"/>
            <p:cNvSpPr txBox="1"/>
            <p:nvPr/>
          </p:nvSpPr>
          <p:spPr>
            <a:xfrm>
              <a:off x="6636825" y="3429500"/>
              <a:ext cx="231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</a:t>
              </a:r>
              <a:endParaRPr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10" name="Google Shape;310;p30"/>
            <p:cNvSpPr txBox="1"/>
            <p:nvPr/>
          </p:nvSpPr>
          <p:spPr>
            <a:xfrm>
              <a:off x="4572000" y="3429500"/>
              <a:ext cx="4872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⅜ </a:t>
              </a: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</a:t>
              </a:r>
              <a:endParaRPr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11" name="Google Shape;311;p30"/>
            <p:cNvSpPr txBox="1"/>
            <p:nvPr/>
          </p:nvSpPr>
          <p:spPr>
            <a:xfrm>
              <a:off x="5522809" y="3429500"/>
              <a:ext cx="650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6/8 </a:t>
              </a:r>
              <a:r>
                <a:rPr lang="it" sz="1100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+1</a:t>
              </a:r>
              <a:endParaRPr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pic>
        <p:nvPicPr>
          <p:cNvPr id="312" name="Google Shape;312;p30" title="eviction schema kernel modific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151" y="500325"/>
            <a:ext cx="1380199" cy="428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1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23" name="Google Shape;323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nel kernel</a:t>
            </a:r>
            <a:endParaRPr/>
          </a:p>
        </p:txBody>
      </p:sp>
      <p:sp>
        <p:nvSpPr>
          <p:cNvPr id="324" name="Google Shape;324;p31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2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2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2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34" name="Google Shape;334;p32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2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Kernel Implementation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337" name="Google Shape;337;p32" title="Screenshot from 2026-02-27 13-33-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5000" y="3664325"/>
            <a:ext cx="3522549" cy="7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 txBox="1"/>
          <p:nvPr>
            <p:ph type="title"/>
          </p:nvPr>
        </p:nvSpPr>
        <p:spPr>
          <a:xfrm>
            <a:off x="522425" y="1302000"/>
            <a:ext cx="7840500" cy="24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Custom variable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fields needed to manage the custom threshold was added to the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inet_connection_sock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struct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Initialization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during the socket initialization in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tcp_v4_init_sock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function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Calculation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in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reqsk_timer_handler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function the custom threshold is update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Font typeface="Source Sans 3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Update: </a:t>
            </a:r>
            <a:r>
              <a:rPr i="1" lang="it" sz="1350">
                <a:latin typeface="Source Sans 3"/>
                <a:ea typeface="Source Sans 3"/>
                <a:cs typeface="Source Sans 3"/>
                <a:sym typeface="Source Sans 3"/>
              </a:rPr>
              <a:t>syn_ack_recalc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detect when unnatural eviction happen and save the information to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recalculate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the threshold.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3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/>
          <p:nvPr/>
        </p:nvSpPr>
        <p:spPr>
          <a:xfrm>
            <a:off x="200678" y="1585788"/>
            <a:ext cx="4126200" cy="219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33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/>
          <p:nvPr/>
        </p:nvSpPr>
        <p:spPr>
          <a:xfrm>
            <a:off x="4782292" y="741333"/>
            <a:ext cx="4126200" cy="20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33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3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50" name="Google Shape;350;p33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3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Kernel Implementation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4746492" y="664983"/>
            <a:ext cx="4234800" cy="20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Code 4.1: include/net/inet_connection_sock.h</a:t>
            </a:r>
            <a:endParaRPr sz="1200">
              <a:solidFill>
                <a:srgbClr val="0000F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F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inet_connection_sock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{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i="1" lang="it" sz="1000">
                <a:solidFill>
                  <a:srgbClr val="A05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//Custom field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u32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sk_max_ack_backlog_custom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	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sk_max_ack_backlog_custom_updater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spinlock_t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backlog_update_lock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unsigned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long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flags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unsigned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long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last_token_update_jiffies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Sans 3"/>
                <a:ea typeface="Source Sans 3"/>
                <a:cs typeface="Source Sans 3"/>
                <a:sym typeface="Source Sans 3"/>
              </a:rPr>
              <a:t>};</a:t>
            </a:r>
            <a:endParaRPr sz="10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4" name="Google Shape;354;p33"/>
          <p:cNvSpPr txBox="1"/>
          <p:nvPr>
            <p:ph type="title"/>
          </p:nvPr>
        </p:nvSpPr>
        <p:spPr>
          <a:xfrm>
            <a:off x="200678" y="1517115"/>
            <a:ext cx="4234800" cy="23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Code 4.3: 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ipv4/inet_connection_sock.c</a:t>
            </a:r>
            <a:endParaRPr sz="1200">
              <a:solidFill>
                <a:srgbClr val="0000F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static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void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reqsk_timer_handler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(struct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timer_list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*t){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…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</a:t>
            </a: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if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(icsk-&gt;sk_max_ack_backlog_custom_updater == 2 || (icsk-&gt;sk_max_ack_backlog_custom_updater == 1 &amp;&amp;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time_after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(now,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icsk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-&gt;</a:t>
            </a:r>
            <a:r>
              <a:rPr lang="it" sz="1000">
                <a:solidFill>
                  <a:srgbClr val="0080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last_token_update_jiffies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TOKEN_UPDATE_INTERVAL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))){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int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random_backlog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0050A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calculate_backlog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();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icsk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-&gt;</a:t>
            </a:r>
            <a:r>
              <a:rPr lang="it" sz="1000">
                <a:solidFill>
                  <a:srgbClr val="0080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sk_max_ack_backlog_custom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909070"/>
                </a:solidFill>
                <a:latin typeface="Source Sans 3"/>
                <a:ea typeface="Source Sans 3"/>
                <a:cs typeface="Source Sans 3"/>
                <a:sym typeface="Source Sans 3"/>
              </a:rPr>
              <a:t>(</a:t>
            </a:r>
            <a:r>
              <a:rPr lang="it" sz="1000">
                <a:solidFill>
                  <a:srgbClr val="0050A0"/>
                </a:solidFill>
                <a:latin typeface="Source Sans 3"/>
                <a:ea typeface="Source Sans 3"/>
                <a:cs typeface="Source Sans 3"/>
                <a:sym typeface="Source Sans 3"/>
              </a:rPr>
              <a:t>u32</a:t>
            </a:r>
            <a:r>
              <a:rPr lang="it" sz="1000">
                <a:solidFill>
                  <a:srgbClr val="909070"/>
                </a:solidFill>
                <a:latin typeface="Source Sans 3"/>
                <a:ea typeface="Source Sans 3"/>
                <a:cs typeface="Source Sans 3"/>
                <a:sym typeface="Source Sans 3"/>
              </a:rPr>
              <a:t>)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random_backlog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icsk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-&gt;</a:t>
            </a:r>
            <a:r>
              <a:rPr lang="it" sz="1000">
                <a:solidFill>
                  <a:srgbClr val="0080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sk_max_ack_backlog_custom_updater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06040"/>
                </a:solidFill>
                <a:latin typeface="Source Sans 3"/>
                <a:ea typeface="Source Sans 3"/>
                <a:cs typeface="Source Sans 3"/>
                <a:sym typeface="Source Sans 3"/>
              </a:rPr>
              <a:t>0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}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…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Source Sans 3"/>
                <a:ea typeface="Source Sans 3"/>
                <a:cs typeface="Source Sans 3"/>
                <a:sym typeface="Source Sans 3"/>
              </a:rPr>
              <a:t>}</a:t>
            </a:r>
            <a:endParaRPr sz="10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4782300" y="2989507"/>
            <a:ext cx="4126200" cy="186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"/>
          <p:cNvSpPr txBox="1"/>
          <p:nvPr>
            <p:ph type="title"/>
          </p:nvPr>
        </p:nvSpPr>
        <p:spPr>
          <a:xfrm>
            <a:off x="4746492" y="2913161"/>
            <a:ext cx="4234800" cy="20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Kernel Code 4.5: 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ipv4/inet_connection_sock.c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static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void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syn_ack_recalc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(…) {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…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</a:t>
            </a: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(req-&gt;num_timeout &lt; 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READ_ONCE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(net-&gt;ipv4.sysctl_tcp_synack_retries) &amp;&amp; !icsk-&gt;sk_max_ack_backlog_custom_updater){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	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icsk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-&gt;</a:t>
            </a:r>
            <a:r>
              <a:rPr lang="it" sz="1000">
                <a:solidFill>
                  <a:srgbClr val="0080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sk_max_ack_backlog_custom_updater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106040"/>
                </a:solidFill>
                <a:latin typeface="Source Sans 3"/>
                <a:ea typeface="Source Sans 3"/>
                <a:cs typeface="Source Sans 3"/>
                <a:sym typeface="Source Sans 3"/>
              </a:rPr>
              <a:t>1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	</a:t>
            </a:r>
            <a:r>
              <a:rPr lang="it" sz="1000">
                <a:solidFill>
                  <a:srgbClr val="1AB1CD"/>
                </a:solidFill>
                <a:latin typeface="Source Sans 3"/>
                <a:ea typeface="Source Sans 3"/>
                <a:cs typeface="Source Sans 3"/>
                <a:sym typeface="Source Sans 3"/>
              </a:rPr>
              <a:t>icsk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-&gt;</a:t>
            </a:r>
            <a:r>
              <a:rPr lang="it" sz="1000">
                <a:solidFill>
                  <a:srgbClr val="0080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last_token_update_jiffies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EE1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=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it" sz="1000">
                <a:solidFill>
                  <a:srgbClr val="0050A0"/>
                </a:solidFill>
                <a:latin typeface="Source Sans 3"/>
                <a:ea typeface="Source Sans 3"/>
                <a:cs typeface="Source Sans 3"/>
                <a:sym typeface="Source Sans 3"/>
              </a:rPr>
              <a:t>jiffies</a:t>
            </a: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;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	}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F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…</a:t>
            </a:r>
            <a:endParaRPr sz="100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Sans 3"/>
                <a:ea typeface="Source Sans 3"/>
                <a:cs typeface="Source Sans 3"/>
                <a:sym typeface="Source Sans 3"/>
              </a:rPr>
              <a:t>}</a:t>
            </a:r>
            <a:endParaRPr sz="10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4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4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4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66" name="Google Shape;366;p34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4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Noise definition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9" name="Google Shape;369;p34"/>
          <p:cNvSpPr txBox="1"/>
          <p:nvPr>
            <p:ph type="title"/>
          </p:nvPr>
        </p:nvSpPr>
        <p:spPr>
          <a:xfrm>
            <a:off x="4811027" y="1546731"/>
            <a:ext cx="34560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Definition: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target is offline but classified as alive.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Critical condition: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0" name="Google Shape;370;p34"/>
          <p:cNvSpPr txBox="1"/>
          <p:nvPr>
            <p:ph type="title"/>
          </p:nvPr>
        </p:nvSpPr>
        <p:spPr>
          <a:xfrm>
            <a:off x="876973" y="1179200"/>
            <a:ext cx="3456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False Negative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1" name="Google Shape;371;p34"/>
          <p:cNvSpPr txBox="1"/>
          <p:nvPr>
            <p:ph type="title"/>
          </p:nvPr>
        </p:nvSpPr>
        <p:spPr>
          <a:xfrm>
            <a:off x="4811027" y="1179200"/>
            <a:ext cx="3456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False Positive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72" name="Google Shape;372;p34"/>
          <p:cNvCxnSpPr/>
          <p:nvPr/>
        </p:nvCxnSpPr>
        <p:spPr>
          <a:xfrm>
            <a:off x="4572000" y="1148625"/>
            <a:ext cx="0" cy="327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4"/>
          <p:cNvSpPr txBox="1"/>
          <p:nvPr>
            <p:ph type="title"/>
          </p:nvPr>
        </p:nvSpPr>
        <p:spPr>
          <a:xfrm>
            <a:off x="876973" y="1546731"/>
            <a:ext cx="34560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Definition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target is alive but classified as offline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Critical condition: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\tfrac{1}{2}T_{n-1} \ge T_n&#10;%3321cda5-7437-42a8-8541-a7c0f652f148" id="374" name="Google Shape;37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1850" y="2280046"/>
            <a:ext cx="8096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_{n-1} &lt; T_n&#10;%84fd7a8f-d0ef-462c-87c3-4f235cf7a2b3" id="375" name="Google Shape;37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0082" y="2303859"/>
            <a:ext cx="6858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4" title="false_positives_plo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8111" y="2654563"/>
            <a:ext cx="3441825" cy="20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4" title="false_negatives_plo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711" y="2772887"/>
            <a:ext cx="3704525" cy="18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5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5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5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5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88" name="Google Shape;38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Risultati ottenuti, accenno alle performance</a:t>
            </a:r>
            <a:endParaRPr/>
          </a:p>
        </p:txBody>
      </p:sp>
      <p:sp>
        <p:nvSpPr>
          <p:cNvPr id="389" name="Google Shape;389;p35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6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6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399" name="Google Shape;399;p36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Solution results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2" name="Google Shape;402;p36"/>
          <p:cNvSpPr txBox="1"/>
          <p:nvPr>
            <p:ph type="title"/>
          </p:nvPr>
        </p:nvSpPr>
        <p:spPr>
          <a:xfrm>
            <a:off x="902100" y="1330650"/>
            <a:ext cx="7339800" cy="18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Performance and security: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solution improves security without compromising kernel performance.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Threshold deduction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an attacker is still able to deduce the queue size and threshold value, but has no information about the next one.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Attacker 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error</a:t>
            </a: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applied solution introduces errors when attempting to extract information about a hidden host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403" name="Google Shape;403;p36" title="Screenshot from 2026-02-27 14-30-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422363"/>
            <a:ext cx="4293999" cy="111386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6"/>
          <p:cNvSpPr txBox="1"/>
          <p:nvPr>
            <p:ph type="title"/>
          </p:nvPr>
        </p:nvSpPr>
        <p:spPr>
          <a:xfrm>
            <a:off x="4709854" y="3369975"/>
            <a:ext cx="2091900" cy="2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it" sz="850">
                <a:latin typeface="Source Sans 3"/>
                <a:ea typeface="Source Sans 3"/>
                <a:cs typeface="Source Sans 3"/>
                <a:sym typeface="Source Sans 3"/>
              </a:rPr>
              <a:t>For a service with 32 Backlog size: </a:t>
            </a:r>
            <a:endParaRPr sz="8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7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7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414" name="Google Shape;414;p37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7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Solution results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417" name="Google Shape;417;p37" title="false_positives_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3224" y="480713"/>
            <a:ext cx="3441825" cy="20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7" title="false_negatives_pl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874" y="2810525"/>
            <a:ext cx="3704525" cy="18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7" title="Screenshot from 2026-02-27 14-30-4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" y="2014825"/>
            <a:ext cx="4293999" cy="111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8" title="univ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825" y="359650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8"/>
          <p:cNvSpPr/>
          <p:nvPr/>
        </p:nvSpPr>
        <p:spPr>
          <a:xfrm>
            <a:off x="25" y="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0" y="5005200"/>
            <a:ext cx="9144000" cy="180000"/>
          </a:xfrm>
          <a:prstGeom prst="rect">
            <a:avLst/>
          </a:prstGeom>
          <a:solidFill>
            <a:srgbClr val="AC0033"/>
          </a:solidFill>
          <a:ln cap="flat" cmpd="sng" w="9525">
            <a:solidFill>
              <a:srgbClr val="AC0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8"/>
          <p:cNvSpPr/>
          <p:nvPr/>
        </p:nvSpPr>
        <p:spPr>
          <a:xfrm>
            <a:off x="25" y="1800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8"/>
          <p:cNvSpPr/>
          <p:nvPr/>
        </p:nvSpPr>
        <p:spPr>
          <a:xfrm>
            <a:off x="0" y="4866900"/>
            <a:ext cx="9144000" cy="1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8"/>
          <p:cNvSpPr txBox="1"/>
          <p:nvPr/>
        </p:nvSpPr>
        <p:spPr>
          <a:xfrm>
            <a:off x="25" y="4782600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8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Conclusione e sviluppi futuri</a:t>
            </a:r>
            <a:endParaRPr/>
          </a:p>
        </p:txBody>
      </p:sp>
      <p:sp>
        <p:nvSpPr>
          <p:cNvPr id="431" name="Google Shape;431;p38"/>
          <p:cNvSpPr txBox="1"/>
          <p:nvPr>
            <p:ph idx="12" type="sldNum"/>
          </p:nvPr>
        </p:nvSpPr>
        <p:spPr>
          <a:xfrm>
            <a:off x="8449400" y="4744302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rgbClr val="AC003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>
              <a:solidFill>
                <a:srgbClr val="AC003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9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 rot="10800000">
            <a:off x="25" y="2191475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9" title="ChatGPT Image Jan 26, 2026, 03_07_54 PM.png"/>
          <p:cNvPicPr preferRelativeResize="0"/>
          <p:nvPr/>
        </p:nvPicPr>
        <p:blipFill rotWithShape="1">
          <a:blip r:embed="rId3">
            <a:alphaModFix/>
          </a:blip>
          <a:srcRect b="41052" l="39893" r="0" t="0"/>
          <a:stretch/>
        </p:blipFill>
        <p:spPr>
          <a:xfrm>
            <a:off x="4959225" y="216000"/>
            <a:ext cx="4184774" cy="27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9" title="univ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825" y="285669"/>
            <a:ext cx="404400" cy="4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9"/>
          <p:cNvSpPr/>
          <p:nvPr/>
        </p:nvSpPr>
        <p:spPr>
          <a:xfrm>
            <a:off x="13" y="4927512"/>
            <a:ext cx="9144000" cy="216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AC00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13" y="4896838"/>
            <a:ext cx="108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AC0033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Finesso Davide</a:t>
            </a:r>
            <a:endParaRPr sz="1000">
              <a:solidFill>
                <a:srgbClr val="AC0033"/>
              </a:solidFill>
              <a:latin typeface="Source Sans 3 Medium"/>
              <a:ea typeface="Source Sans 3 Medium"/>
              <a:cs typeface="Source Sans 3 Medium"/>
              <a:sym typeface="Source Sans 3 Medium"/>
            </a:endParaRPr>
          </a:p>
        </p:txBody>
      </p:sp>
      <p:sp>
        <p:nvSpPr>
          <p:cNvPr id="441" name="Google Shape;441;p39"/>
          <p:cNvSpPr txBox="1"/>
          <p:nvPr>
            <p:ph idx="12" type="sldNum"/>
          </p:nvPr>
        </p:nvSpPr>
        <p:spPr>
          <a:xfrm>
            <a:off x="8363056" y="4838945"/>
            <a:ext cx="6945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2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‹#›</a:t>
            </a:fld>
            <a:endParaRPr sz="12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25" y="0"/>
            <a:ext cx="9144000" cy="216000"/>
          </a:xfrm>
          <a:prstGeom prst="rect">
            <a:avLst/>
          </a:prstGeom>
          <a:gradFill>
            <a:gsLst>
              <a:gs pos="0">
                <a:srgbClr val="AC0033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9"/>
          <p:cNvSpPr txBox="1"/>
          <p:nvPr>
            <p:ph type="title"/>
          </p:nvPr>
        </p:nvSpPr>
        <p:spPr>
          <a:xfrm>
            <a:off x="211900" y="500325"/>
            <a:ext cx="8424600" cy="6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latin typeface="Source Sans 3"/>
                <a:ea typeface="Source Sans 3"/>
                <a:cs typeface="Source Sans 3"/>
                <a:sym typeface="Source Sans 3"/>
              </a:rPr>
              <a:t>Conclusion and future work</a:t>
            </a:r>
            <a:endParaRPr sz="22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4" name="Google Shape;444;p39"/>
          <p:cNvSpPr txBox="1"/>
          <p:nvPr>
            <p:ph type="title"/>
          </p:nvPr>
        </p:nvSpPr>
        <p:spPr>
          <a:xfrm>
            <a:off x="902100" y="1330650"/>
            <a:ext cx="7339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To resume: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thesis focuses on the kernel functions analyzation and provide a random eviction threshold implementation between a defined window.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Effectiveness of the solution: </a:t>
            </a:r>
            <a:endParaRPr b="1"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50"/>
              <a:buChar char="○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Phase 1: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attacker is still able to deduce the threshold value, but cannot understand what the next one will be. 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Phase 2: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the statistical variance between the two states (1.5% vs. 46.4%) forces the attacker to perform massive testing, making the attack slow and easily detectable.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50"/>
              <a:buChar char="●"/>
            </a:pPr>
            <a:r>
              <a:rPr b="1" lang="it" sz="1350">
                <a:latin typeface="Source Sans 3"/>
                <a:ea typeface="Source Sans 3"/>
                <a:cs typeface="Source Sans 3"/>
                <a:sym typeface="Source Sans 3"/>
              </a:rPr>
              <a:t>Future work: </a:t>
            </a:r>
            <a:r>
              <a:rPr lang="it" sz="1350">
                <a:latin typeface="Source Sans 3"/>
                <a:ea typeface="Source Sans 3"/>
                <a:cs typeface="Source Sans 3"/>
                <a:sym typeface="Source Sans 3"/>
              </a:rPr>
              <a:t>improve variance between two states moving to adaptive threshold windows to equalise the probabilities of error.</a:t>
            </a:r>
            <a:endParaRPr sz="135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